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758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2D1E8-C9D5-42C5-ACDE-9C2826F04C2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DEB3A-E9E2-42C2-A916-AFC2E0315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50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“These observations motivated a transition from static operational telemetry toward degradation-dynamics feature engineering.”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EB3A-E9E2-42C2-A916-AFC2E03158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50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EB3A-E9E2-42C2-A916-AFC2E031586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72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42A9-F66B-DE23-F2FF-C2DE59F72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19484-FC75-B670-6B69-9FBB59DF7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F1062-1CBE-E178-2D65-233199A3D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BCDB-0DCB-4AF0-9206-1CBDABBD1AFE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E1EF4-0E86-0CD1-C860-315C83F28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04209-357B-0909-8B8C-E23739C31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C3F-8548-480E-B50F-B15A16D42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9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8E35A-E272-86CF-41C5-4CC9830D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9412B-47AB-EBD4-83F4-5D3AD6652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6FD18-7FF1-C79F-0A23-9EFE281D0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BCDB-0DCB-4AF0-9206-1CBDABBD1AFE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0F475-DDED-314D-6CA3-1E0CD7ABE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17C2B-8AF7-4690-286D-8EBC3555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C3F-8548-480E-B50F-B15A16D42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7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0BC5-DE72-E167-EDAA-CA657FB2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BD656-4552-B80E-88F1-1A3C248F7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CB715-EB6E-239F-6FEA-92B6EC2E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BCDB-0DCB-4AF0-9206-1CBDABBD1AF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ABD8C-AAD4-D6DE-D699-B64D559F0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CB93A-E7CC-9861-D63C-D85515941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C3F-8548-480E-B50F-B15A16D42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64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F90E-127F-DDD0-74A3-669BB75E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2D50A-C978-A41C-0A63-472AB5309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190EA-4943-8434-C701-F762D89BE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01D32-638D-B443-AC47-463CF60C5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BCDB-0DCB-4AF0-9206-1CBDABBD1AF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86FBA-8260-056E-627F-F587B6908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48CE1-572F-E58B-C370-115D79E6A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C3F-8548-480E-B50F-B15A16D42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5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B76C-C79C-F8EB-B281-AD572809E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41077-342C-4BB6-F8A9-5A4CFE4F8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B619A-A6EB-3B0E-7B13-B0A1D2E84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5F920-0E01-7F4F-0E7E-6AF52C292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07E62-2559-9DA3-FCC5-C08CE9ED4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880800-1692-4AF8-3A05-4B82C6E6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BCDB-0DCB-4AF0-9206-1CBDABBD1AF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F9069E-B46F-BD4A-16AB-7A5BDBB30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18411-6720-2549-7E28-5DA870909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C3F-8548-480E-B50F-B15A16D42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1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FD09-D2D3-6CB4-DC8F-FB0EC17AF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2BA45-A496-FC20-E44A-5A9270D8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BCDB-0DCB-4AF0-9206-1CBDABBD1AF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F55C86-EE16-D43E-1D01-0010AB6A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23ED3-6166-333A-C3EE-FF85813E7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C3F-8548-480E-B50F-B15A16D42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1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61BE3B-E344-7E12-1DE4-11993454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BCDB-0DCB-4AF0-9206-1CBDABBD1AF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F5E45-8D20-8323-9FD2-89446A92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0A547-1D33-D91B-CA10-9CCE8C3B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C3F-8548-480E-B50F-B15A16D42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2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A219A-BA40-4863-460C-92A5939F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FD945-EB27-B28E-8FE5-A87F0CDB5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5E9F0-C595-1B8C-F973-B016763AE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44710-7298-2630-567D-88615C227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BCDB-0DCB-4AF0-9206-1CBDABBD1AF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FB39A-194E-8455-A275-5F08F646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F01F6-8FBF-573C-84E8-32F637AF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C3F-8548-480E-B50F-B15A16D42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11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7195E-2F6C-40CF-84FC-71E14A83E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7E34E-C36F-8AF1-DD74-9A2E006B44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36314-7F86-9B2E-DA2D-4E6077696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2AAF7-FD04-D176-DC85-65E37F439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BCDB-0DCB-4AF0-9206-1CBDABBD1AF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A854E-3740-C4B5-01DA-802E876D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CED9B-EB55-7E28-F6C2-43B00186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C3F-8548-480E-B50F-B15A16D42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46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35E0-7A4F-A5BE-1766-57205776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A9521-1BC4-35AF-53B2-817F7B975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AE9AC-D8A5-6D0A-1CCF-522F4D8E5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BCDB-0DCB-4AF0-9206-1CBDABBD1AF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6F226-178C-5573-CD32-B035B51C1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C0084-06EB-A829-89AB-4E7CA4B5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C3F-8548-480E-B50F-B15A16D42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58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11FE2-FB0D-60C1-CFC2-2B7B5BD45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8BD44-39AC-44A2-1D00-1B4F5730F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33E4E-BFD8-B174-59F3-33B54CF9E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BCDB-0DCB-4AF0-9206-1CBDABBD1AF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C59D9-1E6B-5051-1284-C46D4E55E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5227B-16CE-966A-ADB7-F028A4BA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4C3F-8548-480E-B50F-B15A16D42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A9502B-C6A8-5EBE-DB01-C04A38C61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CA32B-1240-0BA9-336A-C6FADE10D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CD59E-0E1A-6C76-4816-C2E88BC8B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DBCDB-0DCB-4AF0-9206-1CBDABBD1AFE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BB9CA-5C39-6726-FAE5-A675F54FB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46563-C8BA-E889-7E8D-DCA9BA00D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24C3F-8548-480E-B50F-B15A16D42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6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DB29ED-859A-9B8C-CB1F-A3FFE9E15928}"/>
              </a:ext>
            </a:extLst>
          </p:cNvPr>
          <p:cNvSpPr txBox="1"/>
          <p:nvPr/>
        </p:nvSpPr>
        <p:spPr>
          <a:xfrm>
            <a:off x="2204582" y="256784"/>
            <a:ext cx="7282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From Static Telemetry to Degradation Dynamics</a:t>
            </a:r>
            <a:endParaRPr 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DE512-850D-6A42-D39B-54D5F2AAC9A9}"/>
              </a:ext>
            </a:extLst>
          </p:cNvPr>
          <p:cNvSpPr txBox="1"/>
          <p:nvPr/>
        </p:nvSpPr>
        <p:spPr>
          <a:xfrm>
            <a:off x="3675164" y="1120676"/>
            <a:ext cx="70242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Baseline Operational Predictors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       ↓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Operational Overlap Between Derate and Non-Derate States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       ↓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EDA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Elxploratory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Data Analysis)of Instability and Recovery Behavior	      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       ↓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Engineered Predictive Features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	       ↓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Degradation-Dynamics Framework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EA0958-CB36-6CD1-55E4-D339B59764D3}"/>
              </a:ext>
            </a:extLst>
          </p:cNvPr>
          <p:cNvSpPr txBox="1"/>
          <p:nvPr/>
        </p:nvSpPr>
        <p:spPr>
          <a:xfrm>
            <a:off x="1144386" y="3774683"/>
            <a:ext cx="8838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Baseline operational predictors showed substantial overlap between derate and non-derate states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Static telemetry values alone were insufficient for stable early-warning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Time-based validation revealed poor operational separability under real-world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EDA identified progressive instability and shrinking recovery behavior approaching future derates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Feature engineering focused on temporal degradation dynamics rather than isolated abnormal sensor values </a:t>
            </a:r>
          </a:p>
        </p:txBody>
      </p:sp>
    </p:spTree>
    <p:extLst>
      <p:ext uri="{BB962C8B-B14F-4D97-AF65-F5344CB8AC3E}">
        <p14:creationId xmlns:p14="http://schemas.microsoft.com/office/powerpoint/2010/main" val="2907816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CDC328-7446-84F3-280D-681F605E60D8}"/>
              </a:ext>
            </a:extLst>
          </p:cNvPr>
          <p:cNvSpPr txBox="1"/>
          <p:nvPr/>
        </p:nvSpPr>
        <p:spPr>
          <a:xfrm>
            <a:off x="2912302" y="237995"/>
            <a:ext cx="6630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Evolution of Predictive-Feature Frameworks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C5AEA8-1530-7526-70E4-9FD261D834D9}"/>
              </a:ext>
            </a:extLst>
          </p:cNvPr>
          <p:cNvSpPr txBox="1"/>
          <p:nvPr/>
        </p:nvSpPr>
        <p:spPr>
          <a:xfrm>
            <a:off x="611716" y="4082940"/>
            <a:ext cx="4027064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Final Degradation-Dynamics Predictors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Combined instability score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Instability recurrence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Recovery gap behavior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Instability density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Recovery-trend dynamics </a:t>
            </a:r>
          </a:p>
          <a:p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C43CCE9-5D2D-F8FC-27AD-ABF25B5AE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228612"/>
              </p:ext>
            </p:extLst>
          </p:nvPr>
        </p:nvGraphicFramePr>
        <p:xfrm>
          <a:off x="669098" y="913628"/>
          <a:ext cx="5426902" cy="1920240"/>
        </p:xfrm>
        <a:graphic>
          <a:graphicData uri="http://schemas.openxmlformats.org/drawingml/2006/table">
            <a:tbl>
              <a:tblPr/>
              <a:tblGrid>
                <a:gridCol w="2713451">
                  <a:extLst>
                    <a:ext uri="{9D8B030D-6E8A-4147-A177-3AD203B41FA5}">
                      <a16:colId xmlns:a16="http://schemas.microsoft.com/office/drawing/2014/main" val="2179023982"/>
                    </a:ext>
                  </a:extLst>
                </a:gridCol>
                <a:gridCol w="2713451">
                  <a:extLst>
                    <a:ext uri="{9D8B030D-6E8A-4147-A177-3AD203B41FA5}">
                      <a16:colId xmlns:a16="http://schemas.microsoft.com/office/drawing/2014/main" val="1554017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Operational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540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Baseline Predictors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Static operational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205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Rolling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Short-term trends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94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Instability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Operational fluctuation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13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DG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Progressive degradation dynamics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02226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8A7AB173-0C06-C70F-43C8-C6237B786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472" y="699660"/>
            <a:ext cx="5227009" cy="33832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BDFA5E5-D625-2CED-BC6F-5414DAC1838A}"/>
              </a:ext>
            </a:extLst>
          </p:cNvPr>
          <p:cNvSpPr txBox="1"/>
          <p:nvPr/>
        </p:nvSpPr>
        <p:spPr>
          <a:xfrm>
            <a:off x="5816165" y="4186971"/>
            <a:ext cx="61754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Increasing instability recurrence was observed approaching future full derate events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Trucks with persistent instability frequently demonstrated shrinking operational recovery behavior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These patterns suggested progressive operational resilience collapse rather than isolated abnormal telemetry states</a:t>
            </a:r>
          </a:p>
        </p:txBody>
      </p:sp>
    </p:spTree>
    <p:extLst>
      <p:ext uri="{BB962C8B-B14F-4D97-AF65-F5344CB8AC3E}">
        <p14:creationId xmlns:p14="http://schemas.microsoft.com/office/powerpoint/2010/main" val="44367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8F7B3D-415C-0017-ACA4-27BE43BE1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33" y="982510"/>
            <a:ext cx="5453046" cy="320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84CFA1-122B-B93F-B5A7-6B31A8EC7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069" y="982510"/>
            <a:ext cx="5217368" cy="320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B90165-8743-F6B5-C215-980489D018E9}"/>
              </a:ext>
            </a:extLst>
          </p:cNvPr>
          <p:cNvSpPr txBox="1"/>
          <p:nvPr/>
        </p:nvSpPr>
        <p:spPr>
          <a:xfrm>
            <a:off x="2452102" y="250521"/>
            <a:ext cx="8478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Recovery Behavior and Degradation-Dynamics Modeling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E212A-45E7-1BA7-41E9-DB5398D409B8}"/>
              </a:ext>
            </a:extLst>
          </p:cNvPr>
          <p:cNvSpPr txBox="1"/>
          <p:nvPr/>
        </p:nvSpPr>
        <p:spPr>
          <a:xfrm>
            <a:off x="809060" y="4299155"/>
            <a:ext cx="109779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Recovery-gap behavior emerged as one of the dominant predictors within the final degradation-dynamics framework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Persistent instability and shrinking recovery periods were strongly associated with future full derate behavior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Degradation-dynamics features improved temporal degradation separability compared to earlier feature-engineering frameworks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strongest degradation signals emerged closer to future full derate events</a:t>
            </a:r>
          </a:p>
        </p:txBody>
      </p:sp>
    </p:spTree>
    <p:extLst>
      <p:ext uri="{BB962C8B-B14F-4D97-AF65-F5344CB8AC3E}">
        <p14:creationId xmlns:p14="http://schemas.microsoft.com/office/powerpoint/2010/main" val="234887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2360</TotalTime>
  <Words>256</Words>
  <Application>Microsoft Office PowerPoint</Application>
  <PresentationFormat>Widescreen</PresentationFormat>
  <Paragraphs>45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Sivaraja Vaithiyalingam</dc:creator>
  <cp:lastModifiedBy>Sivaraja Vaithiyalingam</cp:lastModifiedBy>
  <cp:revision>10</cp:revision>
  <dcterms:created xsi:type="dcterms:W3CDTF">2026-05-21T18:41:18Z</dcterms:created>
  <dcterms:modified xsi:type="dcterms:W3CDTF">2026-05-24T22:01:58Z</dcterms:modified>
</cp:coreProperties>
</file>